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B400"/>
                </a:solidFill>
                <a:latin typeface="微软雅黑"/>
                <a:ea typeface="微软雅黑"/>
              </a:rPr>
              <a:t>全栈项目 · AI 工程化实践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企业员工管理系统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5F5"/>
                </a:solidFill>
                <a:latin typeface="微软雅黑"/>
                <a:ea typeface="微软雅黑"/>
              </a:rPr>
              <a:t>HRMS · Human Resource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886200"/>
            <a:ext cx="2926080" cy="45720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C9D5F5"/>
                </a:solidFill>
                <a:latin typeface="微软雅黑"/>
                <a:ea typeface="微软雅黑"/>
              </a:rPr>
              <a:t>以 AI 为引擎 · 以数据为中心的人力资源数字化平台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9FB0D8"/>
                </a:solidFill>
                <a:latin typeface="微软雅黑"/>
                <a:ea typeface="微软雅黑"/>
              </a:rPr>
              <a:t>答辩人：赵广雨（2607-3 · </a:t>
            </a:r>
            <a:r>
              <a:rPr sz="1400" b="0" dirty="0" err="1">
                <a:solidFill>
                  <a:srgbClr val="9FB0D8"/>
                </a:solidFill>
                <a:latin typeface="微软雅黑"/>
                <a:ea typeface="微软雅黑"/>
              </a:rPr>
              <a:t>第十七组</a:t>
            </a:r>
            <a:r>
              <a:rPr lang="zh-CN" altLang="en-US" sz="1400" b="0" dirty="0">
                <a:solidFill>
                  <a:srgbClr val="9FB0D8"/>
                </a:solidFill>
                <a:latin typeface="微软雅黑"/>
                <a:ea typeface="微软雅黑"/>
              </a:rPr>
              <a:t>）</a:t>
            </a:r>
            <a:r>
              <a:rPr sz="1400" b="0" dirty="0">
                <a:solidFill>
                  <a:srgbClr val="9FB0D8"/>
                </a:solidFill>
                <a:latin typeface="微软雅黑"/>
                <a:ea typeface="微软雅黑"/>
              </a:rPr>
              <a:t> 2026 年</a:t>
            </a:r>
            <a:r>
              <a:rPr lang="en-US" sz="1400" b="0" dirty="0">
                <a:solidFill>
                  <a:srgbClr val="9FB0D8"/>
                </a:solidFill>
                <a:latin typeface="微软雅黑"/>
                <a:ea typeface="微软雅黑"/>
              </a:rPr>
              <a:t> 8 </a:t>
            </a:r>
            <a:r>
              <a:rPr lang="zh-CN" altLang="en-US" sz="1400" b="0" dirty="0">
                <a:solidFill>
                  <a:srgbClr val="9FB0D8"/>
                </a:solidFill>
                <a:latin typeface="微软雅黑"/>
                <a:ea typeface="微软雅黑"/>
              </a:rPr>
              <a:t>月 </a:t>
            </a:r>
            <a:r>
              <a:rPr lang="en-US" altLang="zh-CN" sz="1400" b="0" dirty="0">
                <a:solidFill>
                  <a:srgbClr val="9FB0D8"/>
                </a:solidFill>
                <a:latin typeface="微软雅黑"/>
                <a:ea typeface="微软雅黑"/>
              </a:rPr>
              <a:t>24 </a:t>
            </a:r>
            <a:r>
              <a:rPr lang="zh-CN" altLang="en-US" sz="1400" b="0" dirty="0">
                <a:solidFill>
                  <a:srgbClr val="9FB0D8"/>
                </a:solidFill>
                <a:latin typeface="微软雅黑"/>
                <a:ea typeface="微软雅黑"/>
              </a:rPr>
              <a:t>日</a:t>
            </a:r>
            <a:endParaRPr sz="1400" b="0" dirty="0">
              <a:solidFill>
                <a:srgbClr val="9FB0D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团队介绍与任务分工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2607-3 单人组 · 第十七组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7492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160520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6BF0"/>
                </a:solidFill>
                <a:latin typeface="微软雅黑"/>
                <a:ea typeface="微软雅黑"/>
              </a:rPr>
              <a:t>成员介绍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赵广雨</a:t>
            </a:r>
          </a:p>
          <a:p>
            <a:pPr algn="l">
              <a:spcAft>
                <a:spcPts val="700"/>
              </a:spcAft>
            </a:pPr>
            <a:endParaRPr sz="14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2607-3 单人组 · 第十七组</a:t>
            </a:r>
          </a:p>
          <a:p>
            <a:pPr algn="l">
              <a:spcAft>
                <a:spcPts val="700"/>
              </a:spcAft>
            </a:pPr>
            <a:endParaRPr sz="14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一人全流程：产品 · 全栈 · 测试 · 文档</a:t>
            </a:r>
          </a:p>
          <a:p>
            <a:pPr algn="l">
              <a:spcAft>
                <a:spcPts val="700"/>
              </a:spcAft>
            </a:pPr>
            <a:endParaRPr sz="14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AI 结对开发，小步提交持续交付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600200"/>
          <a:ext cx="5513831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任务域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工作内容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交付产出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需求与设计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产品架构 · 数据库 · API 设计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6 份设计文档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后端开发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22 实体 · 15 控制器 · 安全体系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Spring Boot 服务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前端开发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12 页面 · 10+ 图表 · 权限路由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Vue3 SPA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测试验证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51 用例 · 多代理并行回归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测试报告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部署交付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CloudStudio 一键启动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公网可访问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91153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单人组全流程独立交付 · 46 次 Git 提交全程留痕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九章脉络 · 九分钟讲完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BF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65376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2A44"/>
                </a:solidFill>
                <a:latin typeface="微软雅黑"/>
                <a:ea typeface="微软雅黑"/>
              </a:rPr>
              <a:t>背景与选题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0428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痛点与解法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5120640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BF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46704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2A44"/>
                </a:solidFill>
                <a:latin typeface="微软雅黑"/>
                <a:ea typeface="微软雅黑"/>
              </a:rPr>
              <a:t>需求与设计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85616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产品总览 · RBAC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34256"/>
            <a:ext cx="5120640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BF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828032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2A44"/>
                </a:solidFill>
                <a:latin typeface="微软雅黑"/>
                <a:ea typeface="微软雅黑"/>
              </a:rPr>
              <a:t>技术实现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66944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架构 · 数据库 · API · 安全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15584"/>
            <a:ext cx="5120640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828800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BF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65376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2A44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30428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AI 助手 · 驾驶舱 · 考勤薪酬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852928"/>
            <a:ext cx="5120640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310128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BF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346704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2A44"/>
                </a:solidFill>
                <a:latin typeface="微软雅黑"/>
                <a:ea typeface="微软雅黑"/>
              </a:rPr>
              <a:t>质量与测试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85616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用例 · 工程实践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334256"/>
            <a:ext cx="5120640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791456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BF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828032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2A44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266944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成果 · 创新 · 下一步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5815584"/>
            <a:ext cx="5120640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01 · 背景与选题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背景与痛点 → 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先讲问题，再亮答案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74920" cy="3977639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397763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微软雅黑"/>
                <a:ea typeface="微软雅黑"/>
              </a:rPr>
              <a:t>现状痛点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57200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事务割裂：多系统 / Excel 并行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数据滞后：报表靠人工汇总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决策无据：缺少实时看板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协作低效：流程靠口头传递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00200"/>
            <a:ext cx="5074920" cy="3977639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82296" cy="3977639"/>
          </a:xfrm>
          <a:prstGeom prst="rect">
            <a:avLst/>
          </a:prstGeom>
          <a:solidFill>
            <a:srgbClr val="1E8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9128" y="174650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444"/>
                </a:solidFill>
                <a:latin typeface="微软雅黑"/>
                <a:ea typeface="微软雅黑"/>
              </a:rPr>
              <a:t>本系统解法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167128"/>
            <a:ext cx="457200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一套平台管完「选 · 用 · 育 · 留」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AI 问数：自然语言一问即得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驾驶舱：9 维数据辅助决策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考勤薪酬绩效全流程线上闭环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79008" y="3246120"/>
            <a:ext cx="566928" cy="502920"/>
          </a:xfrm>
          <a:prstGeom prst="rightArrow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91153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让人事事务「一套管完」 · 让经营数据「一问即得」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02 · 需求与设计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产品总览 · 九大模块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一套系统覆盖 HR 全业务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19656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组织人事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部门树 · 岗位 · 编制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600200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1600200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19656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员工档案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全生命周期 + 标签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600200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1600200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3" y="1819656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考勤排班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25856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月历 · 异常 · 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18104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118104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3756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薪酬核算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7764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幂等算薪 · 状态机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118104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256" y="3118104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33756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绩效管理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7764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目标 · 人才九宫格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3118104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28431" y="3118104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3" y="333756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培训发展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3" y="37764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课程 · 学习记录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36008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4636008"/>
            <a:ext cx="3566160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85546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微软雅黑"/>
                <a:ea typeface="微软雅黑"/>
              </a:rPr>
              <a:t>招聘管理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29437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职位 · 招聘漏斗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4256" y="4636008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34256" y="4636008"/>
            <a:ext cx="3566160" cy="82296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0288" y="485546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7800"/>
                </a:solidFill>
                <a:latin typeface="微软雅黑"/>
                <a:ea typeface="微软雅黑"/>
              </a:rPr>
              <a:t>AI 智能助手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529437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自然语言问数 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4636008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28431" y="4636008"/>
            <a:ext cx="3566160" cy="82296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84463" y="485546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7800"/>
                </a:solidFill>
                <a:latin typeface="微软雅黑"/>
                <a:ea typeface="微软雅黑"/>
              </a:rPr>
              <a:t>数据驾驶舱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3" y="529437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71"/>
                </a:solidFill>
                <a:latin typeface="微软雅黑"/>
                <a:ea typeface="微软雅黑"/>
              </a:rPr>
              <a:t>9 维分析看板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02 · 需求与设计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角色与权限（RBAC）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菜单 · 接口 · 数据 三维度收敛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91153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4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能力域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管理员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HR 专员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部门主管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普通员工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工作台 · 数据分析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受限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组织人事 · 档案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仅本人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考勤排班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仅本人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薪酬核算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工资条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绩效 · 培训 · 招聘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系统管理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44"/>
                          </a:solidFill>
                          <a:latin typeface="微软雅黑"/>
                          <a:ea typeface="微软雅黑"/>
                        </a:rPr>
                        <a:t>员工自助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55F71"/>
                          </a:solidFill>
                          <a:latin typeface="微软雅黑"/>
                          <a:ea typeface="微软雅黑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50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1153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F6BF0"/>
                </a:solidFill>
                <a:latin typeface="微软雅黑"/>
                <a:ea typeface="微软雅黑"/>
              </a:rPr>
              <a:t>前端路由收敛菜单 + 后端 @PreAuthorize 校验双重拦截，越权访问一律 403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03 · 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前后端分离 · 四层职责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11535" cy="932688"/>
          </a:xfrm>
          <a:prstGeom prst="roundRect">
            <a:avLst>
              <a:gd name="adj" fmla="val 9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920240" cy="93268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920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00200"/>
            <a:ext cx="839693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55F71"/>
                </a:solidFill>
                <a:latin typeface="微软雅黑"/>
                <a:ea typeface="微软雅黑"/>
              </a:rPr>
              <a:t>Vue3 · TypeScript · Element Plus · ECharts · Pinia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10911535" cy="932688"/>
          </a:xfrm>
          <a:prstGeom prst="roundRect">
            <a:avLst>
              <a:gd name="adj" fmla="val 9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688336"/>
            <a:ext cx="1920240" cy="932688"/>
          </a:xfrm>
          <a:prstGeom prst="rect">
            <a:avLst/>
          </a:prstGeom>
          <a:solidFill>
            <a:srgbClr val="4C7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88336"/>
            <a:ext cx="1920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接入层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88336"/>
            <a:ext cx="839693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55F71"/>
                </a:solidFill>
                <a:latin typeface="微软雅黑"/>
                <a:ea typeface="微软雅黑"/>
              </a:rPr>
              <a:t>路由守卫（角色收敛）· Axios（JWT 注入）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76472"/>
            <a:ext cx="10911535" cy="932688"/>
          </a:xfrm>
          <a:prstGeom prst="roundRect">
            <a:avLst>
              <a:gd name="adj" fmla="val 9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1920240" cy="932688"/>
          </a:xfrm>
          <a:prstGeom prst="rect">
            <a:avLst/>
          </a:prstGeom>
          <a:solidFill>
            <a:srgbClr val="69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1920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业务层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76472"/>
            <a:ext cx="839693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55F71"/>
                </a:solidFill>
                <a:latin typeface="微软雅黑"/>
                <a:ea typeface="微软雅黑"/>
              </a:rPr>
              <a:t>Spring Boot 3 · Controller / Service / Repository · AOP 审计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64608"/>
            <a:ext cx="10911535" cy="932688"/>
          </a:xfrm>
          <a:prstGeom prst="roundRect">
            <a:avLst>
              <a:gd name="adj" fmla="val 9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864608"/>
            <a:ext cx="1920240" cy="932688"/>
          </a:xfrm>
          <a:prstGeom prst="rect">
            <a:avLst/>
          </a:prstGeom>
          <a:solidFill>
            <a:srgbClr val="86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864608"/>
            <a:ext cx="1920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64608"/>
            <a:ext cx="839693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55F71"/>
                </a:solidFill>
                <a:latin typeface="微软雅黑"/>
                <a:ea typeface="微软雅黑"/>
              </a:rPr>
              <a:t>Spring Data JPA · H2 演示 / MySQL 可选 · 固定种子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007607"/>
            <a:ext cx="10911535" cy="50292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007607"/>
            <a:ext cx="1091153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跨层能力：JWT(HS384·24h) · BCrypt · 统一响应与异常 · 操作留痕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03 · 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22 张表 · 7 大业务域 · 固定种子可复现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57784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160520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6BF0"/>
                </a:solidFill>
                <a:latin typeface="微软雅黑"/>
                <a:ea typeface="微软雅黑"/>
              </a:rPr>
              <a:t>核心 ER 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5074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department · 部门树（parent_id 自关联）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　↓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employee · 员工主档（部门 / 岗位 / 上级）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　↓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attendance_record · payroll_record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performance_record · train_record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recruitment_candidate · hr_todo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600200"/>
            <a:ext cx="2468880" cy="2011680"/>
          </a:xfrm>
          <a:prstGeom prst="roundRect">
            <a:avLst>
              <a:gd name="adj" fmla="val 7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47672"/>
            <a:ext cx="2468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F6BF0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8892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5F71"/>
                </a:solidFill>
                <a:latin typeface="微软雅黑"/>
                <a:ea typeface="微软雅黑"/>
              </a:rPr>
              <a:t>张核心表 · 7 业务域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00200"/>
            <a:ext cx="2468880" cy="2011680"/>
          </a:xfrm>
          <a:prstGeom prst="roundRect">
            <a:avLst>
              <a:gd name="adj" fmla="val 7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947672"/>
            <a:ext cx="2468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F6BF0"/>
                </a:solidFill>
                <a:latin typeface="微软雅黑"/>
                <a:ea typeface="微软雅黑"/>
              </a:rPr>
              <a:t>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5F71"/>
                </a:solidFill>
                <a:latin typeface="微软雅黑"/>
                <a:ea typeface="微软雅黑"/>
              </a:rPr>
              <a:t>名员工 · 22 部门 · 46 岗位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749039"/>
            <a:ext cx="2468880" cy="2011680"/>
          </a:xfrm>
          <a:prstGeom prst="roundRect">
            <a:avLst>
              <a:gd name="adj" fmla="val 7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096511"/>
            <a:ext cx="2468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F6BF0"/>
                </a:solidFill>
                <a:latin typeface="微软雅黑"/>
                <a:ea typeface="微软雅黑"/>
              </a:rPr>
              <a:t>7,636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937759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5F71"/>
                </a:solidFill>
                <a:latin typeface="微软雅黑"/>
                <a:ea typeface="微软雅黑"/>
              </a:rPr>
              <a:t>条考勤记录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749039"/>
            <a:ext cx="2468880" cy="2011680"/>
          </a:xfrm>
          <a:prstGeom prst="roundRect">
            <a:avLst>
              <a:gd name="adj" fmla="val 7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4096511"/>
            <a:ext cx="2468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F6BF0"/>
                </a:solidFill>
                <a:latin typeface="微软雅黑"/>
                <a:ea typeface="微软雅黑"/>
              </a:rPr>
              <a:t>399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937759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55F71"/>
                </a:solidFill>
                <a:latin typeface="微软雅黑"/>
                <a:ea typeface="微软雅黑"/>
              </a:rPr>
              <a:t>条薪酬记录 · 固定种子复现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03 · 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API 规范与安全体系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接口统一 · 安全内建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7492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160520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6BF0"/>
                </a:solidFill>
                <a:latin typeface="微软雅黑"/>
                <a:ea typeface="微软雅黑"/>
              </a:rPr>
              <a:t>API 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统一响应：{ code, message, data }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code=0 成功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401 未认证 · 403 越权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400 参数错误 · 404 不存在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15 个 Controller · RESTful 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00200"/>
            <a:ext cx="507492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82296" cy="4160520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9128" y="174650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6BF0"/>
                </a:solidFill>
                <a:latin typeface="微软雅黑"/>
                <a:ea typeface="微软雅黑"/>
              </a:rPr>
              <a:t>安全体系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167128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认证：JWT（HS384 · 24h 有效期）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存储：BCrypt 哈希 · 接口脱敏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鉴权：@PreAuthorize 接口级校验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防护：智能助手 XSS 实体转义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审计：AOP 关键操作留痕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04 · 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AI 智能助手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自然语言 → 结论 · 图表 · 追问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035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555F71"/>
                </a:solidFill>
                <a:latin typeface="微软雅黑"/>
                <a:ea typeface="微软雅黑"/>
              </a:rPr>
              <a:t>•  一句话问数：「各部门有多少员工」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555F71"/>
                </a:solidFill>
                <a:latin typeface="微软雅黑"/>
                <a:ea typeface="微软雅黑"/>
              </a:rPr>
              <a:t>•  返回：结论 + 柱状图 + 可追问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555F71"/>
                </a:solidFill>
                <a:latin typeface="微软雅黑"/>
                <a:ea typeface="微软雅黑"/>
              </a:rPr>
              <a:t>•  规则式 NLP：18 类意图，结果可测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555F71"/>
                </a:solidFill>
                <a:latin typeface="微软雅黑"/>
                <a:ea typeface="微软雅黑"/>
              </a:rPr>
              <a:t>•  多轮对话：「那最多的呢？」自动续接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555F71"/>
                </a:solidFill>
                <a:latin typeface="微软雅黑"/>
                <a:ea typeface="微软雅黑"/>
              </a:rPr>
              <a:t>•  角色收敛：员工问薪酬 → 降级提示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555F71"/>
                </a:solidFill>
                <a:latin typeface="微软雅黑"/>
                <a:ea typeface="微软雅黑"/>
              </a:rPr>
              <a:t>•  零外部依赖：离线可用，响应毫秒级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600200"/>
            <a:ext cx="459943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7-智能助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0006"/>
            <a:ext cx="4599432" cy="40837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04 · 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数据驾驶舱 · 组织架构 · 员工档案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三屏速览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-工作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47" y="1600200"/>
            <a:ext cx="3450024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27448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F6BF0"/>
                </a:solidFill>
                <a:latin typeface="微软雅黑"/>
                <a:ea typeface="微软雅黑"/>
              </a:rPr>
              <a:t>数据驾驶舱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60020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3-组织架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323" y="1600200"/>
            <a:ext cx="3450024" cy="3063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34256" y="4727448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F6BF0"/>
                </a:solidFill>
                <a:latin typeface="微软雅黑"/>
                <a:ea typeface="微软雅黑"/>
              </a:rPr>
              <a:t>组织架构树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160020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员工档案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197994"/>
            <a:ext cx="3566160" cy="186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28431" y="4727448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F6BF0"/>
                </a:solidFill>
                <a:latin typeface="微软雅黑"/>
                <a:ea typeface="微软雅黑"/>
              </a:rPr>
              <a:t>员工档案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•  9 维分析：九宫格 · 招聘漏斗 · 趋势 · 成本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•  组织树：节点人数自动汇总，成员可下钻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555F71"/>
                </a:solidFill>
                <a:latin typeface="微软雅黑"/>
                <a:ea typeface="微软雅黑"/>
              </a:rPr>
              <a:t>•  档案：全生命周期 + 标签 + 完整度评分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04 · 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考勤排班 · 薪酬核算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管理闭环的两个硬模块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40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5-考勤排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07" y="1600200"/>
            <a:ext cx="3450024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27448"/>
            <a:ext cx="5440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F6BF0"/>
                </a:solidFill>
                <a:latin typeface="微软雅黑"/>
                <a:ea typeface="微软雅黑"/>
              </a:rPr>
              <a:t>考勤排班：月历热力 · 异常识别 · 一键归档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40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6-薪酬核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247" y="1600200"/>
            <a:ext cx="3450024" cy="3063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727448"/>
            <a:ext cx="5440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F6BF0"/>
                </a:solidFill>
                <a:latin typeface="微软雅黑"/>
                <a:ea typeface="微软雅黑"/>
              </a:rPr>
              <a:t>薪酬核算：幂等算薪 · 社保个税 · 成本构成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57800"/>
            <a:ext cx="10911535" cy="822960"/>
          </a:xfrm>
          <a:prstGeom prst="roundRect">
            <a:avLst>
              <a:gd name="adj" fmla="val 12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19" y="5257800"/>
            <a:ext cx="102714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微软雅黑"/>
                <a:ea typeface="微软雅黑"/>
              </a:rPr>
              <a:t>薪酬状态机：DRAFT → CALCULATED → CONFIRMED → PAID　·　核算幂等可重跑　·　KPI 实时联动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05 · 质量与实践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AI-Coding 工程实践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会工程化交付，而不只是会写代码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evron 6"/>
          <p:cNvSpPr/>
          <p:nvPr/>
        </p:nvSpPr>
        <p:spPr>
          <a:xfrm>
            <a:off x="728319" y="1691640"/>
            <a:ext cx="2395728" cy="1234440"/>
          </a:xfrm>
          <a:prstGeom prst="chevron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提示词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驱动开发</a:t>
            </a:r>
          </a:p>
        </p:txBody>
      </p:sp>
      <p:sp>
        <p:nvSpPr>
          <p:cNvPr id="8" name="Chevron 7"/>
          <p:cNvSpPr/>
          <p:nvPr/>
        </p:nvSpPr>
        <p:spPr>
          <a:xfrm>
            <a:off x="2813151" y="1691640"/>
            <a:ext cx="2395728" cy="1234440"/>
          </a:xfrm>
          <a:prstGeom prst="chevron">
            <a:avLst/>
          </a:prstGeom>
          <a:solidFill>
            <a:srgbClr val="4C7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设计文档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先行</a:t>
            </a:r>
          </a:p>
        </p:txBody>
      </p:sp>
      <p:sp>
        <p:nvSpPr>
          <p:cNvPr id="9" name="Chevron 8"/>
          <p:cNvSpPr/>
          <p:nvPr/>
        </p:nvSpPr>
        <p:spPr>
          <a:xfrm>
            <a:off x="4897983" y="1691640"/>
            <a:ext cx="2395728" cy="1234440"/>
          </a:xfrm>
          <a:prstGeom prst="chevron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设计审查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Review</a:t>
            </a:r>
          </a:p>
        </p:txBody>
      </p:sp>
      <p:sp>
        <p:nvSpPr>
          <p:cNvPr id="10" name="Chevron 9"/>
          <p:cNvSpPr/>
          <p:nvPr/>
        </p:nvSpPr>
        <p:spPr>
          <a:xfrm>
            <a:off x="6982815" y="1691640"/>
            <a:ext cx="2395728" cy="1234440"/>
          </a:xfrm>
          <a:prstGeom prst="chevron">
            <a:avLst/>
          </a:prstGeom>
          <a:solidFill>
            <a:srgbClr val="4C7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编码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与测试</a:t>
            </a:r>
          </a:p>
        </p:txBody>
      </p:sp>
      <p:sp>
        <p:nvSpPr>
          <p:cNvPr id="11" name="Chevron 10"/>
          <p:cNvSpPr/>
          <p:nvPr/>
        </p:nvSpPr>
        <p:spPr>
          <a:xfrm>
            <a:off x="9067647" y="1691640"/>
            <a:ext cx="2395728" cy="1234440"/>
          </a:xfrm>
          <a:prstGeom prst="chevron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全程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留痕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91153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0">
                <a:solidFill>
                  <a:srgbClr val="555F71"/>
                </a:solidFill>
                <a:latin typeface="微软雅黑"/>
                <a:ea typeface="微软雅黑"/>
              </a:rPr>
              <a:t>•  攻坚 30+ 典型问题：H2 保留字建表 · 九宫格解析 · XSS 转义 · 越权修复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555F71"/>
                </a:solidFill>
                <a:latin typeface="微软雅黑"/>
                <a:ea typeface="微软雅黑"/>
              </a:rPr>
              <a:t>•  全链路留痕：设计文档 · 审查报告 · 测试文档 · 运行截图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555F71"/>
                </a:solidFill>
                <a:latin typeface="微软雅黑"/>
                <a:ea typeface="微软雅黑"/>
              </a:rPr>
              <a:t>•  提示词资产沉淀：可复用、可复盘、可交接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05 · 质量与实践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测试与质量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用数据说话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566160" cy="4160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0B400"/>
                </a:solidFill>
                <a:latin typeface="微软雅黑"/>
                <a:ea typeface="微软雅黑"/>
              </a:rPr>
              <a:t>接口测试用例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3383280"/>
            <a:ext cx="914400" cy="27432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9D5F5"/>
                </a:solidFill>
                <a:latin typeface="微软雅黑"/>
                <a:ea typeface="微软雅黑"/>
              </a:rPr>
              <a:t>通过率（含权限/异常）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0D8"/>
                </a:solidFill>
                <a:latin typeface="微软雅黑"/>
                <a:ea typeface="微软雅黑"/>
              </a:rPr>
              <a:t>唯一未过项 = 缺参返回 400</a:t>
            </a:r>
          </a:p>
          <a:p>
            <a:pPr algn="ctr"/>
            <a:r>
              <a:rPr sz="1200" b="0">
                <a:solidFill>
                  <a:srgbClr val="9FB0D8"/>
                </a:solidFill>
                <a:latin typeface="微软雅黑"/>
                <a:ea typeface="微软雅黑"/>
              </a:rPr>
              <a:t>属预期参数校验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00200"/>
            <a:ext cx="6976872" cy="932688"/>
          </a:xfrm>
          <a:prstGeom prst="roundRect">
            <a:avLst>
              <a:gd name="adj" fmla="val 10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600200"/>
            <a:ext cx="82296" cy="93268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728216"/>
            <a:ext cx="6583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微软雅黑"/>
                <a:ea typeface="微软雅黑"/>
              </a:rPr>
              <a:t>功能用例 · 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07568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认证/组织/档案/考勤/薪酬/绩效/培训/招聘/自助/分析/系统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88336"/>
            <a:ext cx="6976872" cy="932688"/>
          </a:xfrm>
          <a:prstGeom prst="roundRect">
            <a:avLst>
              <a:gd name="adj" fmla="val 10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2688336"/>
            <a:ext cx="82296" cy="93268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2816352"/>
            <a:ext cx="6583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微软雅黑"/>
                <a:ea typeface="微软雅黑"/>
              </a:rPr>
              <a:t>权限用例 ·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16382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四种角色越权访问，全部返回 403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76472"/>
            <a:ext cx="6976872" cy="932688"/>
          </a:xfrm>
          <a:prstGeom prst="roundRect">
            <a:avLst>
              <a:gd name="adj" fmla="val 10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3776472"/>
            <a:ext cx="82296" cy="93268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904487"/>
            <a:ext cx="6583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微软雅黑"/>
                <a:ea typeface="微软雅黑"/>
              </a:rPr>
              <a:t>异常用例 ·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25196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401 未登录 · 403 越权 · 400 缺参 · 404 资源不存在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864608"/>
            <a:ext cx="6976872" cy="932688"/>
          </a:xfrm>
          <a:prstGeom prst="roundRect">
            <a:avLst>
              <a:gd name="adj" fmla="val 100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4864608"/>
            <a:ext cx="82296" cy="93268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992624"/>
            <a:ext cx="6583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微软雅黑"/>
                <a:ea typeface="微软雅黑"/>
              </a:rPr>
              <a:t>构建校验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340096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55F71"/>
                </a:solidFill>
                <a:latin typeface="微软雅黑"/>
                <a:ea typeface="微软雅黑"/>
              </a:rPr>
              <a:t>前端 vue-tsc 全量构建 · 零类型告警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06 ·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实习反馈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从写代码到做工程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160520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3063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6BF0"/>
                </a:solidFill>
                <a:latin typeface="微软雅黑"/>
                <a:ea typeface="微软雅黑"/>
              </a:rPr>
              <a:t>技术成长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30632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全栈贯通：Spring Boot 3 + Vue3</a:t>
            </a:r>
          </a:p>
          <a:p>
            <a:pPr algn="l">
              <a:spcAft>
                <a:spcPts val="700"/>
              </a:spcAft>
            </a:pPr>
            <a:endParaRPr sz="13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工程化：一键启动 · 回归脚本 · 云端部署</a:t>
            </a:r>
          </a:p>
          <a:p>
            <a:pPr algn="l">
              <a:spcAft>
                <a:spcPts val="700"/>
              </a:spcAft>
            </a:pPr>
            <a:endParaRPr sz="13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安全内建：JWT · RBAC · XSS ·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00200"/>
            <a:ext cx="356616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600200"/>
            <a:ext cx="82296" cy="4160520"/>
          </a:xfrm>
          <a:prstGeom prst="rect">
            <a:avLst/>
          </a:prstGeom>
          <a:solidFill>
            <a:srgbClr val="B4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63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7800"/>
                </a:solidFill>
                <a:latin typeface="微软雅黑"/>
                <a:ea typeface="微软雅黑"/>
              </a:rPr>
              <a:t>AI 协作方式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67128"/>
            <a:ext cx="30632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提示词驱动：设计 → 代码 → 验证</a:t>
            </a:r>
          </a:p>
          <a:p>
            <a:pPr algn="l">
              <a:spcAft>
                <a:spcPts val="700"/>
              </a:spcAft>
            </a:pPr>
            <a:endParaRPr sz="13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多代理并行：60+ 接口自动回归</a:t>
            </a:r>
          </a:p>
          <a:p>
            <a:pPr algn="l">
              <a:spcAft>
                <a:spcPts val="700"/>
              </a:spcAft>
            </a:pPr>
            <a:endParaRPr sz="13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全程留痕：46 次提交可复盘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00200"/>
            <a:ext cx="356616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600200"/>
            <a:ext cx="82296" cy="4160520"/>
          </a:xfrm>
          <a:prstGeom prst="rect">
            <a:avLst/>
          </a:prstGeom>
          <a:solidFill>
            <a:srgbClr val="1E8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746504"/>
            <a:ext cx="3063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444"/>
                </a:solidFill>
                <a:latin typeface="微软雅黑"/>
                <a:ea typeface="微软雅黑"/>
              </a:rPr>
              <a:t>实践感悟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67128"/>
            <a:ext cx="30632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设计先行，返工更少</a:t>
            </a:r>
          </a:p>
          <a:p>
            <a:pPr algn="l">
              <a:spcAft>
                <a:spcPts val="700"/>
              </a:spcAft>
            </a:pPr>
            <a:endParaRPr sz="13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小步提交 + 自动验证更踏实</a:t>
            </a:r>
          </a:p>
          <a:p>
            <a:pPr algn="l">
              <a:spcAft>
                <a:spcPts val="700"/>
              </a:spcAft>
            </a:pPr>
            <a:endParaRPr sz="135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55F71"/>
                </a:solidFill>
                <a:latin typeface="微软雅黑"/>
                <a:ea typeface="微软雅黑"/>
              </a:rPr>
              <a:t>部署上线，成果随时可演示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1153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最大收获：把「会写功能」升级为「会交付产品」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BF0"/>
                </a:solidFill>
                <a:latin typeface="微软雅黑"/>
                <a:ea typeface="微软雅黑"/>
              </a:rPr>
              <a:t>06 ·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微软雅黑"/>
                <a:ea typeface="微软雅黑"/>
              </a:rPr>
              <a:t>成果 · 创新 · 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91153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71"/>
                </a:solidFill>
                <a:latin typeface="微软雅黑"/>
                <a:ea typeface="微软雅黑"/>
              </a:rPr>
              <a:t>可交付 · 可复现 · 可演进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02920" cy="41148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160520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3063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6BF0"/>
                </a:solidFill>
                <a:latin typeface="微软雅黑"/>
                <a:ea typeface="微软雅黑"/>
              </a:rPr>
              <a:t>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30632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可运行的全栈代码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8 份文档（设计·测试·手册）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运行截图 + 操作手册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答辩 PPT + 一键启动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00200"/>
            <a:ext cx="356616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600200"/>
            <a:ext cx="82296" cy="4160520"/>
          </a:xfrm>
          <a:prstGeom prst="rect">
            <a:avLst/>
          </a:prstGeom>
          <a:solidFill>
            <a:srgbClr val="B4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63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7800"/>
                </a:solidFill>
                <a:latin typeface="微软雅黑"/>
                <a:ea typeface="微软雅黑"/>
              </a:rPr>
              <a:t>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67128"/>
            <a:ext cx="30632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AI 智能问数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数据能力沉淀复用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幂等一键算薪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固定种子可复现演示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00200"/>
            <a:ext cx="3566160" cy="4160520"/>
          </a:xfrm>
          <a:prstGeom prst="roundRect">
            <a:avLst>
              <a:gd name="adj" fmla="val 5500"/>
            </a:avLst>
          </a:prstGeom>
          <a:solidFill>
            <a:srgbClr val="F2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600200"/>
            <a:ext cx="82296" cy="4160520"/>
          </a:xfrm>
          <a:prstGeom prst="rect">
            <a:avLst/>
          </a:prstGeom>
          <a:solidFill>
            <a:srgbClr val="1E8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746504"/>
            <a:ext cx="3063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444"/>
                </a:solidFill>
                <a:latin typeface="微软雅黑"/>
                <a:ea typeface="微软雅黑"/>
              </a:rPr>
              <a:t>展望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67128"/>
            <a:ext cx="30632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聊天历史持久化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自动化单元测试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物理外键与事务</a:t>
            </a:r>
          </a:p>
          <a:p>
            <a:pPr algn="l">
              <a:spcAft>
                <a:spcPts val="700"/>
              </a:spcAft>
            </a:pPr>
            <a:endParaRPr sz="1400" b="0">
              <a:solidFill>
                <a:srgbClr val="555F71"/>
              </a:solidFill>
              <a:latin typeface="微软雅黑"/>
              <a:ea typeface="微软雅黑"/>
            </a:endParaRP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55F71"/>
                </a:solidFill>
                <a:latin typeface="微软雅黑"/>
                <a:ea typeface="微软雅黑"/>
              </a:rPr>
              <a:t>接入大模型增强问数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911535" cy="10972"/>
          </a:xfrm>
          <a:prstGeom prst="rect">
            <a:avLst/>
          </a:prstGeom>
          <a:solidFill>
            <a:srgbClr val="D9E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F71"/>
                </a:solidFill>
                <a:latin typeface="微软雅黑"/>
                <a:ea typeface="微软雅黑"/>
              </a:rPr>
              <a:t>企业员工管理系统 HRMS · 答辩汇报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F6BF0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谢谢聆听 ·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3703320"/>
            <a:ext cx="2011680" cy="45720"/>
          </a:xfrm>
          <a:prstGeom prst="rect">
            <a:avLst/>
          </a:prstGeom>
          <a:solidFill>
            <a:srgbClr val="F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9D5F5"/>
                </a:solidFill>
                <a:latin typeface="微软雅黑"/>
                <a:ea typeface="微软雅黑"/>
              </a:rPr>
              <a:t>企业员工管理系统 HRMS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D8"/>
                </a:solidFill>
                <a:latin typeface="微软雅黑"/>
                <a:ea typeface="微软雅黑"/>
              </a:rPr>
              <a:t>代码仓库：Gitee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972</Words>
  <Application>Microsoft Office PowerPoint</Application>
  <PresentationFormat>宽屏</PresentationFormat>
  <Paragraphs>326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广雨 赵</cp:lastModifiedBy>
  <cp:revision>2</cp:revision>
  <dcterms:created xsi:type="dcterms:W3CDTF">2013-01-27T09:14:16Z</dcterms:created>
  <dcterms:modified xsi:type="dcterms:W3CDTF">2026-08-24T13:08:42Z</dcterms:modified>
  <cp:category/>
</cp:coreProperties>
</file>